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exandria" panose="020B0604020202020204" charset="-78"/>
      <p:regular r:id="rId13"/>
    </p:embeddedFont>
    <p:embeddedFont>
      <p:font typeface="Arial Black" panose="020B0A04020102020204" pitchFamily="34" charset="0"/>
      <p:bold r:id="rId14"/>
    </p:embeddedFon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Nobile" panose="020B0604020202020204" charset="0"/>
      <p:regular r:id="rId19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9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CC266B-923D-F21D-2D41-F851D966CAEE}"/>
              </a:ext>
            </a:extLst>
          </p:cNvPr>
          <p:cNvSpPr/>
          <p:nvPr userDrawn="1"/>
        </p:nvSpPr>
        <p:spPr>
          <a:xfrm>
            <a:off x="12839215" y="7749540"/>
            <a:ext cx="1722605" cy="4114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Blood Bank Management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comprehensive solution for managing blood donations, patient requests, inventory, and administrative functions in blood banks.</a:t>
            </a:r>
            <a:endParaRPr lang="en-US" sz="17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49CFED-142B-146E-7FAF-8878C65F760A}"/>
              </a:ext>
            </a:extLst>
          </p:cNvPr>
          <p:cNvSpPr txBox="1"/>
          <p:nvPr/>
        </p:nvSpPr>
        <p:spPr>
          <a:xfrm>
            <a:off x="6411191" y="5933209"/>
            <a:ext cx="3408218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entury Gothic" panose="020B0502020202020204" pitchFamily="34" charset="0"/>
              </a:rPr>
              <a:t>GROUP MEMBERS:</a:t>
            </a:r>
          </a:p>
          <a:p>
            <a:endParaRPr lang="en-US" sz="800" b="1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</a:rPr>
              <a:t>M USMAN KHAN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</a:rPr>
              <a:t>RAFI ULLAH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</a:rPr>
              <a:t>M SARIM KHAN</a:t>
            </a:r>
            <a:endParaRPr lang="en-PK" sz="2000" b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735" y="581144"/>
            <a:ext cx="5424487" cy="66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System Features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39735" y="1558528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31" y="1598176"/>
            <a:ext cx="316944" cy="396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26607" y="1631156"/>
            <a:ext cx="2655689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Donor Management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1426607" y="2088118"/>
            <a:ext cx="6977658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Register donors with personal details. Track donations and check eligibility.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739735" y="3187065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031" y="3226713"/>
            <a:ext cx="316944" cy="396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26607" y="3259693"/>
            <a:ext cx="2794516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Patient Management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1426607" y="3716655"/>
            <a:ext cx="6977658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Store patient information and medical history. Track blood requests and fulfillment status.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739735" y="4815602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031" y="4855250"/>
            <a:ext cx="316944" cy="3962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26607" y="4888230"/>
            <a:ext cx="3078242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Inventory Management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1426607" y="5345192"/>
            <a:ext cx="6977658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Centralize blood bag data. Get alerts for expiring blood. Manage incoming supplies.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739735" y="6444139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031" y="6483787"/>
            <a:ext cx="316944" cy="3962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26607" y="6516767"/>
            <a:ext cx="2927390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Request Management</a:t>
            </a:r>
            <a:endParaRPr lang="en-US" sz="2050" dirty="0"/>
          </a:p>
        </p:txBody>
      </p:sp>
      <p:sp>
        <p:nvSpPr>
          <p:cNvPr id="19" name="Text 12"/>
          <p:cNvSpPr/>
          <p:nvPr/>
        </p:nvSpPr>
        <p:spPr>
          <a:xfrm>
            <a:off x="1426607" y="6973729"/>
            <a:ext cx="6977658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Process specific blood type requests. Monitor request status. Prioritize critical needs.</a:t>
            </a:r>
            <a:endParaRPr lang="en-US" sz="16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058"/>
            <a:ext cx="69108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Core Database Structure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Donor Table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28455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Stores donor information including DonorID, Name, Age, Gender, BloodType, Contact, Email, and Address.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Blood Inventory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033957"/>
            <a:ext cx="284559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Tracks available blood with InventoryID, BloodType, Quantity, and ExpiryDate.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Patient Table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033957"/>
            <a:ext cx="284559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Contains PatientID, Name, Age, Gender, Contact, and Address for those needing blood.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Blood Request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033957"/>
            <a:ext cx="284559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Records RequestID, PatientID, BloodType, Quantity, RequestDate, and Status.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40C8B9-6A21-1C1C-4D39-F4F4025FDF80}"/>
              </a:ext>
            </a:extLst>
          </p:cNvPr>
          <p:cNvSpPr/>
          <p:nvPr/>
        </p:nvSpPr>
        <p:spPr>
          <a:xfrm>
            <a:off x="12843164" y="7751618"/>
            <a:ext cx="1683327" cy="3948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7196" y="1036320"/>
            <a:ext cx="6537246" cy="581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Supporting Database Tables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137196" y="1896308"/>
            <a:ext cx="3828217" cy="3001804"/>
          </a:xfrm>
          <a:prstGeom prst="roundRect">
            <a:avLst>
              <a:gd name="adj" fmla="val 260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30672" y="2089785"/>
            <a:ext cx="2324457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Staff &amp; Operations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30672" y="2491859"/>
            <a:ext cx="3441263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Staff Table: StaffID, Name, Role, Contact, Email, Address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330672" y="3151942"/>
            <a:ext cx="3441263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 Table: TestID, DonorID, TestDate, TestResult, StaffID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30672" y="3812024"/>
            <a:ext cx="3441263" cy="892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Appointment Table: AppointmentID, DonorID, StaffID, AppointmentDate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0151269" y="1896308"/>
            <a:ext cx="3828336" cy="3001804"/>
          </a:xfrm>
          <a:prstGeom prst="roundRect">
            <a:avLst>
              <a:gd name="adj" fmla="val 2602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44745" y="2089785"/>
            <a:ext cx="2324457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Supply Chain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344745" y="2491859"/>
            <a:ext cx="3441383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Supplier Table: SupplierID, Name, Contact, Address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0344745" y="3151942"/>
            <a:ext cx="3441383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Supply Table: SupplyID, SupplierID, InventoryID, SupplyDate, Quantity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344745" y="3812024"/>
            <a:ext cx="3441383" cy="892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Transactions Table: TransactionID, PatientID, InventoryID, TransactionDate, Quantity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137196" y="5083969"/>
            <a:ext cx="7842409" cy="2109192"/>
          </a:xfrm>
          <a:prstGeom prst="roundRect">
            <a:avLst>
              <a:gd name="adj" fmla="val 3703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0672" y="5277445"/>
            <a:ext cx="269117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Engagement &amp; Finance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30672" y="5679519"/>
            <a:ext cx="7455456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Campaign Table: CampaignID, Name, StartDate, EndDate, Location, StaffID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330672" y="6042065"/>
            <a:ext cx="7455456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Feedback Table: FeedbackID, DonorID, PatientID, FeedbackDate, Comments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330672" y="6404610"/>
            <a:ext cx="7455456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Payment Table: PaymentID, TransactionID, Amount, PaymentDate, PaymentMethod</a:t>
            </a:r>
            <a:endParaRPr lang="en-US" sz="14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C02FFC-C9A7-3EC4-C3A6-1297B4B6BE42}"/>
              </a:ext>
            </a:extLst>
          </p:cNvPr>
          <p:cNvSpPr/>
          <p:nvPr/>
        </p:nvSpPr>
        <p:spPr>
          <a:xfrm>
            <a:off x="12843164" y="7751618"/>
            <a:ext cx="1683327" cy="3948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055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58" y="2692360"/>
            <a:ext cx="4411028" cy="55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Relationships</a:t>
            </a:r>
            <a:endParaRPr lang="en-US" sz="3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58" y="3508296"/>
            <a:ext cx="882134" cy="10585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75924" y="3684627"/>
            <a:ext cx="2376249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Donor Provides Blood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675924" y="4066103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Donors make donations recorded in Donation table, updating BloodInventory.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58" y="4566880"/>
            <a:ext cx="882134" cy="10585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75924" y="4743212"/>
            <a:ext cx="257163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Patient Requests Blood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675924" y="5124688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Patients create BloodRequests based on medical needs.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458" y="5625465"/>
            <a:ext cx="882134" cy="10585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75924" y="5801797"/>
            <a:ext cx="3236238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Inventory Fulfills Transactions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675924" y="6183273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Blood from Inventory is used for patient treatments via Transactions.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458" y="6684050"/>
            <a:ext cx="882134" cy="10585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675924" y="6860381"/>
            <a:ext cx="282916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Staff Manages Operations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1675924" y="7241858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Staff perform tests, organize campaigns, and handle appointments.</a:t>
            </a:r>
            <a:endParaRPr lang="en-US" sz="13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4FB33E-F89A-50AF-0E83-5487FE8CEF10}"/>
              </a:ext>
            </a:extLst>
          </p:cNvPr>
          <p:cNvSpPr/>
          <p:nvPr/>
        </p:nvSpPr>
        <p:spPr>
          <a:xfrm>
            <a:off x="12843164" y="7751618"/>
            <a:ext cx="1683327" cy="3948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9881" y="5720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ER Diagram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18184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754" y="1631373"/>
            <a:ext cx="13460706" cy="6151418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787" y="607933"/>
            <a:ext cx="6986230" cy="690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System Actions &amp; Queries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1883331"/>
            <a:ext cx="3134201" cy="313420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416" y="1883331"/>
            <a:ext cx="3134320" cy="313432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3544" y="1883331"/>
            <a:ext cx="3134320" cy="313432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4673" y="1883331"/>
            <a:ext cx="3134320" cy="31343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73787" y="5519380"/>
            <a:ext cx="4176712" cy="729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40+</a:t>
            </a:r>
            <a:endParaRPr lang="en-US" sz="5700" dirty="0"/>
          </a:p>
        </p:txBody>
      </p:sp>
      <p:sp>
        <p:nvSpPr>
          <p:cNvPr id="8" name="Text 2"/>
          <p:cNvSpPr/>
          <p:nvPr/>
        </p:nvSpPr>
        <p:spPr>
          <a:xfrm>
            <a:off x="1480304" y="6525220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System Actions</a:t>
            </a:r>
            <a:endParaRPr lang="en-US" sz="2150" dirty="0"/>
          </a:p>
        </p:txBody>
      </p:sp>
      <p:sp>
        <p:nvSpPr>
          <p:cNvPr id="9" name="Text 3"/>
          <p:cNvSpPr/>
          <p:nvPr/>
        </p:nvSpPr>
        <p:spPr>
          <a:xfrm>
            <a:off x="773787" y="7003256"/>
            <a:ext cx="4176712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SQL queries for viewing, inserting, updating, and deleting records.</a:t>
            </a:r>
            <a:endParaRPr lang="en-US" sz="1700" dirty="0"/>
          </a:p>
        </p:txBody>
      </p:sp>
      <p:sp>
        <p:nvSpPr>
          <p:cNvPr id="10" name="Text 4"/>
          <p:cNvSpPr/>
          <p:nvPr/>
        </p:nvSpPr>
        <p:spPr>
          <a:xfrm>
            <a:off x="5226844" y="5519380"/>
            <a:ext cx="4176712" cy="729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16</a:t>
            </a:r>
            <a:endParaRPr lang="en-US" sz="5700" dirty="0"/>
          </a:p>
        </p:txBody>
      </p:sp>
      <p:sp>
        <p:nvSpPr>
          <p:cNvPr id="11" name="Text 5"/>
          <p:cNvSpPr/>
          <p:nvPr/>
        </p:nvSpPr>
        <p:spPr>
          <a:xfrm>
            <a:off x="5933361" y="6525220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Views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5226844" y="7003256"/>
            <a:ext cx="4176712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Specialized queries for monitoring inventory, requests, and donations.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9679900" y="5519380"/>
            <a:ext cx="4176712" cy="729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24</a:t>
            </a:r>
            <a:endParaRPr lang="en-US" sz="5700" dirty="0"/>
          </a:p>
        </p:txBody>
      </p:sp>
      <p:sp>
        <p:nvSpPr>
          <p:cNvPr id="14" name="Text 8"/>
          <p:cNvSpPr/>
          <p:nvPr/>
        </p:nvSpPr>
        <p:spPr>
          <a:xfrm>
            <a:off x="10386417" y="6525220"/>
            <a:ext cx="2763679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Operations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9679900" y="7003256"/>
            <a:ext cx="4176712" cy="707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Functions for adding and modifying system data.</a:t>
            </a:r>
            <a:endParaRPr lang="en-US" sz="1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3873DD-0ADD-A111-A577-37D98C45687E}"/>
              </a:ext>
            </a:extLst>
          </p:cNvPr>
          <p:cNvSpPr/>
          <p:nvPr/>
        </p:nvSpPr>
        <p:spPr>
          <a:xfrm>
            <a:off x="12843164" y="7751618"/>
            <a:ext cx="1683327" cy="3948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16625"/>
            <a:ext cx="8433792" cy="699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Management Operations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82955" y="1763197"/>
            <a:ext cx="1633061" cy="1289090"/>
          </a:xfrm>
          <a:prstGeom prst="roundRect">
            <a:avLst>
              <a:gd name="adj" fmla="val 728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204" y="2211110"/>
            <a:ext cx="314563" cy="393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39735" y="1986915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View Operations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639735" y="2470666"/>
            <a:ext cx="7900273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Query donor data, blood inventory, patient records, and pending requests.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2527816" y="3037046"/>
            <a:ext cx="11207829" cy="15240"/>
          </a:xfrm>
          <a:prstGeom prst="roundRect">
            <a:avLst>
              <a:gd name="adj" fmla="val 616554"/>
            </a:avLst>
          </a:prstGeom>
          <a:solidFill>
            <a:srgbClr val="B8C3DF"/>
          </a:solidFill>
          <a:ln/>
        </p:spPr>
      </p:sp>
      <p:sp>
        <p:nvSpPr>
          <p:cNvPr id="8" name="Shape 5"/>
          <p:cNvSpPr/>
          <p:nvPr/>
        </p:nvSpPr>
        <p:spPr>
          <a:xfrm>
            <a:off x="782955" y="3164086"/>
            <a:ext cx="3266123" cy="1289090"/>
          </a:xfrm>
          <a:prstGeom prst="roundRect">
            <a:avLst>
              <a:gd name="adj" fmla="val 728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735" y="3611999"/>
            <a:ext cx="314563" cy="3931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72796" y="3387804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Insert Operations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272796" y="3871555"/>
            <a:ext cx="7342227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 new donors, patients, inventory, requests, staff, and campaigns.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4160877" y="4437936"/>
            <a:ext cx="9574768" cy="15240"/>
          </a:xfrm>
          <a:prstGeom prst="roundRect">
            <a:avLst>
              <a:gd name="adj" fmla="val 616554"/>
            </a:avLst>
          </a:prstGeom>
          <a:solidFill>
            <a:srgbClr val="B8C3DF"/>
          </a:solidFill>
          <a:ln/>
        </p:spPr>
      </p:sp>
      <p:sp>
        <p:nvSpPr>
          <p:cNvPr id="13" name="Shape 9"/>
          <p:cNvSpPr/>
          <p:nvPr/>
        </p:nvSpPr>
        <p:spPr>
          <a:xfrm>
            <a:off x="782955" y="4564975"/>
            <a:ext cx="4899184" cy="1289090"/>
          </a:xfrm>
          <a:prstGeom prst="roundRect">
            <a:avLst>
              <a:gd name="adj" fmla="val 728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5265" y="5012888"/>
            <a:ext cx="314563" cy="3931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05857" y="4788694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Update Operations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5905857" y="5272445"/>
            <a:ext cx="6336625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Modify request status, inventory quantities, and staff roles.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5793938" y="5838825"/>
            <a:ext cx="7941707" cy="15240"/>
          </a:xfrm>
          <a:prstGeom prst="roundRect">
            <a:avLst>
              <a:gd name="adj" fmla="val 616554"/>
            </a:avLst>
          </a:prstGeom>
          <a:solidFill>
            <a:srgbClr val="B8C3DF"/>
          </a:solidFill>
          <a:ln/>
        </p:spPr>
      </p:sp>
      <p:sp>
        <p:nvSpPr>
          <p:cNvPr id="18" name="Shape 13"/>
          <p:cNvSpPr/>
          <p:nvPr/>
        </p:nvSpPr>
        <p:spPr>
          <a:xfrm>
            <a:off x="782955" y="5965865"/>
            <a:ext cx="6532245" cy="1646992"/>
          </a:xfrm>
          <a:prstGeom prst="roundRect">
            <a:avLst>
              <a:gd name="adj" fmla="val 570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1796" y="6592729"/>
            <a:ext cx="314563" cy="3931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38918" y="6189583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Delete Operations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538918" y="6673334"/>
            <a:ext cx="6084808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Remove unlinked donors, patients, and suppliers without active records.</a:t>
            </a:r>
            <a:endParaRPr lang="en-US" sz="17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0C8CBE-1EB7-9F79-8C6A-DF60761D0F8A}"/>
              </a:ext>
            </a:extLst>
          </p:cNvPr>
          <p:cNvSpPr/>
          <p:nvPr/>
        </p:nvSpPr>
        <p:spPr>
          <a:xfrm>
            <a:off x="12843164" y="7751618"/>
            <a:ext cx="1683327" cy="3948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72318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Schema Design Decisions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Normalization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Eliminated redundancy and ensured data integrity across tables.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31" y="31765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680097"/>
            <a:ext cx="29077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Implementation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170515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Used primary keys for unique identification and foreign keys for relationships.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604" y="3565088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132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Lookup Tables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623084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Simplified data access and updates with specialized tables like BloodInventory.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103" y="579096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132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Date Fields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623084"/>
            <a:ext cx="38987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Included date tracking for expiration checks and operational timelines.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230" y="5402461"/>
            <a:ext cx="339328" cy="42422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3A7FB0D-3941-0DA0-93AA-48E96440362B}"/>
              </a:ext>
            </a:extLst>
          </p:cNvPr>
          <p:cNvSpPr/>
          <p:nvPr/>
        </p:nvSpPr>
        <p:spPr>
          <a:xfrm>
            <a:off x="12843164" y="7751618"/>
            <a:ext cx="1683327" cy="3948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566" y="414457"/>
            <a:ext cx="3768804" cy="471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System Benefits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733" y="931594"/>
            <a:ext cx="9738652" cy="5323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96126" y="6661307"/>
            <a:ext cx="150733" cy="150733"/>
          </a:xfrm>
          <a:prstGeom prst="roundRect">
            <a:avLst>
              <a:gd name="adj" fmla="val 12133"/>
            </a:avLst>
          </a:prstGeom>
          <a:solidFill>
            <a:srgbClr val="081A44"/>
          </a:solidFill>
          <a:ln/>
        </p:spPr>
      </p:sp>
      <p:sp>
        <p:nvSpPr>
          <p:cNvPr id="5" name="Text 2"/>
          <p:cNvSpPr/>
          <p:nvPr/>
        </p:nvSpPr>
        <p:spPr>
          <a:xfrm>
            <a:off x="1607819" y="6661307"/>
            <a:ext cx="1588175" cy="150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Arial Black" panose="020B0A04020102020204" pitchFamily="34" charset="0"/>
                <a:ea typeface="Nobile" pitchFamily="34" charset="-122"/>
                <a:cs typeface="Nobile" pitchFamily="34" charset="-120"/>
              </a:rPr>
              <a:t>Operational Efficiency</a:t>
            </a:r>
            <a:endParaRPr lang="en-US" sz="1400" b="1" dirty="0">
              <a:latin typeface="Arial Black" panose="020B0A040201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016811" y="6661307"/>
            <a:ext cx="150733" cy="150733"/>
          </a:xfrm>
          <a:prstGeom prst="roundRect">
            <a:avLst>
              <a:gd name="adj" fmla="val 12133"/>
            </a:avLst>
          </a:prstGeom>
          <a:solidFill>
            <a:srgbClr val="113487"/>
          </a:solidFill>
          <a:ln/>
        </p:spPr>
      </p:sp>
      <p:sp>
        <p:nvSpPr>
          <p:cNvPr id="7" name="Text 4"/>
          <p:cNvSpPr/>
          <p:nvPr/>
        </p:nvSpPr>
        <p:spPr>
          <a:xfrm>
            <a:off x="4228504" y="6661307"/>
            <a:ext cx="1044535" cy="150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Arial Black" panose="020B0A04020102020204" pitchFamily="34" charset="0"/>
                <a:ea typeface="Nobile" pitchFamily="34" charset="-122"/>
                <a:cs typeface="Nobile" pitchFamily="34" charset="-120"/>
              </a:rPr>
              <a:t>Data Accuracy</a:t>
            </a:r>
            <a:endParaRPr lang="en-US" sz="1400" b="1" dirty="0">
              <a:latin typeface="Arial Black" panose="020B0A040201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50806" y="6661307"/>
            <a:ext cx="150733" cy="150733"/>
          </a:xfrm>
          <a:prstGeom prst="roundRect">
            <a:avLst>
              <a:gd name="adj" fmla="val 12133"/>
            </a:avLst>
          </a:prstGeom>
          <a:solidFill>
            <a:srgbClr val="194ECA"/>
          </a:solidFill>
          <a:ln/>
        </p:spPr>
      </p:sp>
      <p:sp>
        <p:nvSpPr>
          <p:cNvPr id="9" name="Text 6"/>
          <p:cNvSpPr/>
          <p:nvPr/>
        </p:nvSpPr>
        <p:spPr>
          <a:xfrm>
            <a:off x="6662499" y="6661307"/>
            <a:ext cx="1667708" cy="150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Arial Black" panose="020B0A04020102020204" pitchFamily="34" charset="0"/>
                <a:ea typeface="Nobile" pitchFamily="34" charset="-122"/>
                <a:cs typeface="Nobile" pitchFamily="34" charset="-120"/>
              </a:rPr>
              <a:t>Resource Management</a:t>
            </a:r>
            <a:endParaRPr lang="en-US" sz="1400" b="1" dirty="0">
              <a:latin typeface="Arial Black" panose="020B0A040201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587150" y="6661307"/>
            <a:ext cx="150733" cy="150733"/>
          </a:xfrm>
          <a:prstGeom prst="roundRect">
            <a:avLst>
              <a:gd name="adj" fmla="val 12133"/>
            </a:avLst>
          </a:prstGeom>
          <a:solidFill>
            <a:srgbClr val="4777E8"/>
          </a:solidFill>
          <a:ln/>
        </p:spPr>
      </p:sp>
      <p:sp>
        <p:nvSpPr>
          <p:cNvPr id="11" name="Text 8"/>
          <p:cNvSpPr/>
          <p:nvPr/>
        </p:nvSpPr>
        <p:spPr>
          <a:xfrm>
            <a:off x="9798843" y="6661307"/>
            <a:ext cx="886063" cy="150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Arial Black" panose="020B0A04020102020204" pitchFamily="34" charset="0"/>
                <a:ea typeface="Nobile" pitchFamily="34" charset="-122"/>
                <a:cs typeface="Nobile" pitchFamily="34" charset="-120"/>
              </a:rPr>
              <a:t>Patient Care</a:t>
            </a:r>
            <a:endParaRPr lang="en-US" sz="1400" b="1" dirty="0">
              <a:latin typeface="Arial Black" panose="020B0A040201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1585019" y="6661307"/>
            <a:ext cx="150733" cy="150733"/>
          </a:xfrm>
          <a:prstGeom prst="roundRect">
            <a:avLst>
              <a:gd name="adj" fmla="val 12133"/>
            </a:avLst>
          </a:prstGeom>
          <a:solidFill>
            <a:srgbClr val="8AA9F0"/>
          </a:solidFill>
          <a:ln/>
        </p:spPr>
      </p:sp>
      <p:sp>
        <p:nvSpPr>
          <p:cNvPr id="13" name="Text 10"/>
          <p:cNvSpPr/>
          <p:nvPr/>
        </p:nvSpPr>
        <p:spPr>
          <a:xfrm>
            <a:off x="11796712" y="6661307"/>
            <a:ext cx="1584365" cy="150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Arial Black" panose="020B0A04020102020204" pitchFamily="34" charset="0"/>
                <a:ea typeface="Nobile" pitchFamily="34" charset="-122"/>
                <a:cs typeface="Nobile" pitchFamily="34" charset="-120"/>
              </a:rPr>
              <a:t>Reporting Capabilities</a:t>
            </a:r>
            <a:endParaRPr lang="en-US" sz="1400" b="1" dirty="0">
              <a:latin typeface="Arial Black" panose="020B0A040201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51223" y="7040727"/>
            <a:ext cx="1357526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b="1" dirty="0">
                <a:solidFill>
                  <a:srgbClr val="404155"/>
                </a:solidFill>
                <a:latin typeface="Arial Black" panose="020B0A04020102020204" pitchFamily="34" charset="0"/>
                <a:ea typeface="Nobile" pitchFamily="34" charset="-122"/>
                <a:cs typeface="Nobile" pitchFamily="34" charset="-120"/>
              </a:rPr>
              <a:t>The Blood Bank Management System streamlines operations, improves data accuracy, and enhances resource management. It enables better patient care through efficient blood request processing and provides comprehensive reporting capabilities.</a:t>
            </a:r>
            <a:endParaRPr lang="en-US" sz="1600" b="1" dirty="0">
              <a:latin typeface="Arial Black" panose="020B0A040201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3EC935-4C67-B5BC-3DBE-78BF67570D0E}"/>
              </a:ext>
            </a:extLst>
          </p:cNvPr>
          <p:cNvSpPr/>
          <p:nvPr/>
        </p:nvSpPr>
        <p:spPr>
          <a:xfrm>
            <a:off x="12843164" y="7751618"/>
            <a:ext cx="1683327" cy="3948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570</Words>
  <Application>Microsoft Office PowerPoint</Application>
  <PresentationFormat>Custom</PresentationFormat>
  <Paragraphs>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Alexandria</vt:lpstr>
      <vt:lpstr>Nobile</vt:lpstr>
      <vt:lpstr>Arial</vt:lpstr>
      <vt:lpstr>Arial Black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Sarim Khan Niazi</cp:lastModifiedBy>
  <cp:revision>6</cp:revision>
  <dcterms:created xsi:type="dcterms:W3CDTF">2025-06-12T03:36:53Z</dcterms:created>
  <dcterms:modified xsi:type="dcterms:W3CDTF">2025-06-15T17:43:42Z</dcterms:modified>
</cp:coreProperties>
</file>